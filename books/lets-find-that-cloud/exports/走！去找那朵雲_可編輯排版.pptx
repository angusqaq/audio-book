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原創走部繪本；封面；7–9 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右頁為扉頁 1；左頁為閱讀版的前襯，不計入單頁 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2–3。起點：一句急切的邀請，建立白兔雲和小風車。</a:t>
            </a:r>
          </a:p>
          <a:p>
            <a:r>
              <a:t>起風了。琪琪指着天上的白兔雲：</a:t>
            </a:r>
          </a:p>
          <a:p>
            <a:r>
              <a:t>「走！去找那朵雲！」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4–5。願望：琪琪把這一趟當成一場要趕快到達的出發。</a:t>
            </a:r>
          </a:p>
          <a:p>
            <a:r>
              <a:t>「這一趟，我要走到雲下面！」</a:t>
            </a:r>
          </a:p>
          <a:p>
            <a:r>
              <a:t>琪琪舉起小風車。</a:t>
            </a:r>
          </a:p>
          <a:p>
            <a:r>
              <a:t>樂樂跟着出發。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6–7。對照：趕路與觀察都有各自的節奏。</a:t>
            </a:r>
          </a:p>
          <a:p>
            <a:r>
              <a:t>琪琪加快腳步趕路。</a:t>
            </a:r>
          </a:p>
          <a:p>
            <a:r>
              <a:t>「快一點，雲不會等我們！」</a:t>
            </a:r>
          </a:p>
          <a:p>
            <a:r>
              <a:t>樂樂卻在看一片會發亮的葉子。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8–9。幽默：越急，影子越不會被超過；另一種玩法在旁邊發生。</a:t>
            </a:r>
          </a:p>
          <a:p>
            <a:r>
              <a:t>琪琪想超過自己的影子。</a:t>
            </a:r>
          </a:p>
          <a:p>
            <a:r>
              <a:t>她加快腳步，影子也快了起來。</a:t>
            </a:r>
          </a:p>
          <a:p>
            <a:r>
              <a:t>樂樂的影子，正跟一隻小蟲打招呼。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10–11。翻頁鉤子：一句還沒說完的發現。</a:t>
            </a:r>
          </a:p>
          <a:p>
            <a:r>
              <a:t>琪琪越過小水窪。</a:t>
            </a:r>
          </a:p>
          <a:p>
            <a:r>
              <a:t>「別停下來呀！」</a:t>
            </a:r>
          </a:p>
          <a:p>
            <a:r>
              <a:t>樂樂蹲下：「水裏有……」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12–13。變形：天空一直在改變，追趕的目標也改變了。</a:t>
            </a:r>
          </a:p>
          <a:p>
            <a:r>
              <a:t>「等會兒再看！」琪琪說。</a:t>
            </a:r>
          </a:p>
          <a:p>
            <a:r>
              <a:t>白兔雲伸長耳朵，又縮了回去。</a:t>
            </a:r>
          </a:p>
          <a:p>
            <a:r>
              <a:t>咦，怎麼變成一條大魚？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14–15。安靜低點：大留白讓孩子感到天空的距離。</a:t>
            </a:r>
          </a:p>
          <a:p>
            <a:r>
              <a:t>琪琪走到小坡，抬起頭。</a:t>
            </a:r>
          </a:p>
          <a:p>
            <a:r>
              <a:t>雲還在遠遠的天上。</a:t>
            </a:r>
          </a:p>
          <a:p>
            <a:r>
              <a:t>「怎麼越走，越趕不上呢？」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16–17。轉折：朋友用一個邀請代替催促或說教。</a:t>
            </a:r>
          </a:p>
          <a:p>
            <a:r>
              <a:t>她放下風車，坐了下來。</a:t>
            </a:r>
          </a:p>
          <a:p>
            <a:r>
              <a:t>樂樂遞來一片落葉：</a:t>
            </a:r>
          </a:p>
          <a:p>
            <a:r>
              <a:t>「先陪我走回水窪，好嗎？」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18–19。回看：同一條路，從另外的步伐看見新的東西。</a:t>
            </a:r>
          </a:p>
          <a:p>
            <a:r>
              <a:t>琪琪趁風小了一點，慢慢走。</a:t>
            </a:r>
          </a:p>
          <a:p>
            <a:r>
              <a:t>越過剛才的石頭，</a:t>
            </a:r>
          </a:p>
          <a:p>
            <a:r>
              <a:t>她看見樂樂一直指着的地方。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20–21。視覺高潮：遠方的雲在腳邊；文字和圖像一起完成發現。</a:t>
            </a:r>
          </a:p>
          <a:p>
            <a:r>
              <a:t>一條白白的大魚，</a:t>
            </a:r>
          </a:p>
          <a:p>
            <a:r>
              <a:t>正安安靜靜地，游在水窪裏。</a:t>
            </a:r>
          </a:p>
          <a:p>
            <a:r>
              <a:t>「原來，雲也走到這裏了！」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22–23。遊戲：落葉成為天空裏的小船，不必真的追到雲。</a:t>
            </a:r>
          </a:p>
          <a:p>
            <a:r>
              <a:t>樂樂把落葉放進水裏。</a:t>
            </a:r>
          </a:p>
          <a:p>
            <a:r>
              <a:t>一陣小風吹來——</a:t>
            </a:r>
          </a:p>
          <a:p>
            <a:r>
              <a:t>大魚旁邊，多了一艘小船。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24–25。再次邀請：孩子自己提出新的探索。</a:t>
            </a:r>
          </a:p>
          <a:p>
            <a:r>
              <a:t>琪琪也蹲下來。</a:t>
            </a:r>
          </a:p>
          <a:p>
            <a:r>
              <a:t>「再走一趟吧！」</a:t>
            </a:r>
          </a:p>
          <a:p>
            <a:r>
              <a:t>「去哪裏？」樂樂問。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26–27。新的節奏：不是走得慢才正確，而是願意共同發現。</a:t>
            </a:r>
          </a:p>
          <a:p>
            <a:r>
              <a:t>「去看看，路上還有甚麼有趣的事。」</a:t>
            </a:r>
          </a:p>
          <a:p>
            <a:r>
              <a:t>他們不再急着趕路。</a:t>
            </a:r>
          </a:p>
          <a:p>
            <a:r>
              <a:t>風車在身旁，輕輕轉了起來。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28–29。首尾照應：同一句話，從催趕變成一起走的邀請。</a:t>
            </a:r>
          </a:p>
          <a:p>
            <a:r>
              <a:t>琪琪看見一朵新的雲：</a:t>
            </a:r>
          </a:p>
          <a:p>
            <a:r>
              <a:t>「走！去找那朵雲！」</a:t>
            </a:r>
          </a:p>
          <a:p>
            <a:r>
              <a:t>這一次，她等樂樂一起走。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核心六字：起、趕、超、越、趟、趣；兼認走，延伸趁。答案：趕。跑屬足部，追屬辵部。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左頁製作頁 32；右頁封底。快與慢都不是好壞的標籤，故事重點是注意與同行。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30600" y="330200"/>
            <a:ext cx="13589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部</a:t>
            </a: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首</a:t>
            </a: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故</a:t>
            </a: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事</a:t>
            </a: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・</a:t>
            </a:r>
            <a:r>
              <a:rPr sz="1700" b="0">
                <a:solidFill>
                  <a:srgbClr val="557D8B"/>
                </a:solidFill>
                <a:latin typeface="Iansui"/>
                <a:ea typeface="Iansui"/>
              </a:rPr>
              <a:t>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600" y="825500"/>
            <a:ext cx="1841500" cy="1117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560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7900" y="2159000"/>
            <a:ext cx="3302000" cy="776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5100" b="0">
                <a:solidFill>
                  <a:srgbClr val="303536"/>
                </a:solidFill>
                <a:latin typeface="Iansui"/>
                <a:ea typeface="Iansui"/>
              </a:rPr>
              <a:t>找</a:t>
            </a:r>
            <a:r>
              <a:rPr sz="5100" b="0">
                <a:solidFill>
                  <a:srgbClr val="303536"/>
                </a:solidFill>
                <a:latin typeface="Iansui"/>
                <a:ea typeface="Iansui"/>
              </a:rPr>
              <a:t>那</a:t>
            </a:r>
            <a:r>
              <a:rPr sz="5100" b="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510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</a:p>
        </p:txBody>
      </p:sp>
      <p:pic>
        <p:nvPicPr>
          <p:cNvPr id="6" name="Picture 5" descr="琪琪與樂樂帶着紙風車，抬頭望雲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76625" y="3162300"/>
            <a:ext cx="5238750" cy="349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990600"/>
            <a:ext cx="1130300" cy="3495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給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每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1435100"/>
            <a:ext cx="2063750" cy="450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上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人</a:t>
            </a:r>
            <a:r>
              <a:rPr sz="21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pic>
        <p:nvPicPr>
          <p:cNvPr id="4" name="Picture 3" descr="琪琪，約八歲女孩。黑色短鮑伯頭、不對稱瀏海，自己左側兩枚珊瑚髮夾；芥末黃長袖上衣、天藍小胸袋、深藍綠及膝短褲、珊瑚帆布鞋、鈷藍斜背小袋。右手帶一支珊瑚橙四葉紙風車、藍綠軸心和木柄。急着出發，也願意重新聽朋友說話。"/>
          <p:cNvPicPr>
            <a:picLocks noChangeAspect="1"/>
          </p:cNvPicPr>
          <p:nvPr/>
        </p:nvPicPr>
        <p:blipFill>
          <a:blip r:embed="rId3"/>
          <a:srcRect r="75000"/>
          <a:stretch>
            <a:fillRect/>
          </a:stretch>
        </p:blipFill>
        <p:spPr>
          <a:xfrm>
            <a:off x="1169987" y="3149600"/>
            <a:ext cx="1152525" cy="3073400"/>
          </a:xfrm>
          <a:prstGeom prst="rect">
            <a:avLst/>
          </a:prstGeom>
        </p:spPr>
      </p:pic>
      <p:pic>
        <p:nvPicPr>
          <p:cNvPr id="5" name="Picture 4" descr="樂樂，約八歲男孩。黑色圓短髮、一撮翹髮；米白短袖、天藍短吊帶褲、苔綠雨靴。沒有袋子和風車。喜歡留意葉子、影子和小水窪，不是琪琪的弟弟，而是同行的朋友。"/>
          <p:cNvPicPr>
            <a:picLocks noChangeAspect="1"/>
          </p:cNvPicPr>
          <p:nvPr/>
        </p:nvPicPr>
        <p:blipFill>
          <a:blip r:embed="rId3"/>
          <a:srcRect l="50000" r="25000"/>
          <a:stretch>
            <a:fillRect/>
          </a:stretch>
        </p:blipFill>
        <p:spPr>
          <a:xfrm>
            <a:off x="3354387" y="3149600"/>
            <a:ext cx="1152525" cy="307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9900" y="2019300"/>
            <a:ext cx="1397000" cy="850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420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7200" y="3073400"/>
            <a:ext cx="2984500" cy="70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4600" b="0">
                <a:solidFill>
                  <a:srgbClr val="303536"/>
                </a:solidFill>
                <a:latin typeface="Iansui"/>
                <a:ea typeface="Iansui"/>
              </a:rPr>
              <a:t>找</a:t>
            </a:r>
            <a:r>
              <a:rPr sz="4600" b="0">
                <a:solidFill>
                  <a:srgbClr val="303536"/>
                </a:solidFill>
                <a:latin typeface="Iansui"/>
                <a:ea typeface="Iansui"/>
              </a:rPr>
              <a:t>那</a:t>
            </a:r>
            <a:r>
              <a:rPr sz="4600" b="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460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178300"/>
            <a:ext cx="1511300" cy="321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首</a:t>
            </a: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故</a:t>
            </a: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・</a:t>
            </a:r>
            <a:r>
              <a:rPr sz="1900" b="0">
                <a:solidFill>
                  <a:srgbClr val="303536"/>
                </a:solidFill>
                <a:latin typeface="Iansui"/>
                <a:ea typeface="Iansui"/>
              </a:rPr>
              <a:t>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740400"/>
            <a:ext cx="2052955" cy="2357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繁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體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中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文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繪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本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7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–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9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300" b="0">
                <a:solidFill>
                  <a:srgbClr val="626B68"/>
                </a:solidFill>
                <a:latin typeface="Iansui"/>
                <a:ea typeface="Iansui"/>
              </a:rPr>
              <a:t>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個孩子分站左右下方，琪琪以左手指向右上方白兔形的雲，右手只有一支四葉小風車。樂樂抬頭。上方三分之一留白；臉部避開中縫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1791" y="990600"/>
            <a:ext cx="9748417" cy="5486400"/>
          </a:xfrm>
          <a:prstGeom prst="rect">
            <a:avLst/>
          </a:prstGeom>
        </p:spPr>
      </p:pic>
      <p:grpSp>
        <p:nvGrpSpPr>
          <p:cNvPr id="3" name="專名號：起風了。琪琪指着天上的白兔雲："/>
          <p:cNvGrpSpPr/>
          <p:nvPr/>
        </p:nvGrpSpPr>
        <p:grpSpPr>
          <a:xfrm>
            <a:off x="660400" y="469900"/>
            <a:ext cx="4551680" cy="490804"/>
            <a:chOff x="660400" y="469900"/>
            <a:chExt cx="455168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455168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起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風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了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指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天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上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白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兔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雲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：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1968500" y="9054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310388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找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5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人物集中右下方，琪琪跨出大步，樂樂開始跟着走；一條極淡彎路，白兔雲在右上。左方四成全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1905000"/>
            <a:ext cx="440690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要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面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grpSp>
        <p:nvGrpSpPr>
          <p:cNvPr id="4" name="專名號：琪琪舉起小風車。"/>
          <p:cNvGrpSpPr/>
          <p:nvPr/>
        </p:nvGrpSpPr>
        <p:grpSpPr>
          <a:xfrm>
            <a:off x="660400" y="2415540"/>
            <a:ext cx="2524760" cy="490804"/>
            <a:chOff x="660400" y="2415540"/>
            <a:chExt cx="2524760" cy="490804"/>
          </a:xfrm>
        </p:grpSpPr>
        <p:sp>
          <p:nvSpPr>
            <p:cNvPr id="5" name="TextBox 4"/>
            <p:cNvSpPr txBox="1"/>
            <p:nvPr/>
          </p:nvSpPr>
          <p:spPr>
            <a:xfrm>
              <a:off x="660400" y="2415540"/>
              <a:ext cx="252476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舉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起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風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車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6" name="專名號：琪琪"/>
            <p:cNvCxnSpPr/>
            <p:nvPr/>
          </p:nvCxnSpPr>
          <p:spPr>
            <a:xfrm>
              <a:off x="665480" y="285109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專名號：樂樂跟着出發。"/>
          <p:cNvGrpSpPr/>
          <p:nvPr/>
        </p:nvGrpSpPr>
        <p:grpSpPr>
          <a:xfrm>
            <a:off x="660400" y="2931744"/>
            <a:ext cx="2090420" cy="380771"/>
            <a:chOff x="660400" y="2931744"/>
            <a:chExt cx="209042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60400" y="2931744"/>
              <a:ext cx="209042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跟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出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發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665480" y="3257270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琪琪在右側走得急，回頭招呼；樂樂在遠左看帶露珠的綠葉。幾條赭黃動線，不畫完整背景。上方三成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4834" y="482600"/>
            <a:ext cx="10662331" cy="6000750"/>
          </a:xfrm>
          <a:prstGeom prst="rect">
            <a:avLst/>
          </a:prstGeom>
        </p:spPr>
      </p:pic>
      <p:grpSp>
        <p:nvGrpSpPr>
          <p:cNvPr id="3" name="專名號：琪琪加快腳步趕路。"/>
          <p:cNvGrpSpPr/>
          <p:nvPr/>
        </p:nvGrpSpPr>
        <p:grpSpPr>
          <a:xfrm>
            <a:off x="660400" y="469900"/>
            <a:ext cx="2814320" cy="490804"/>
            <a:chOff x="660400" y="469900"/>
            <a:chExt cx="281432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281432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加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快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腳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步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趕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路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9054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382778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快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點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會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等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們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grpSp>
        <p:nvGrpSpPr>
          <p:cNvPr id="7" name="專名號：樂樂卻在看一片會發亮的葉子。"/>
          <p:cNvGrpSpPr/>
          <p:nvPr/>
        </p:nvGrpSpPr>
        <p:grpSpPr>
          <a:xfrm>
            <a:off x="6781800" y="901700"/>
            <a:ext cx="4117340" cy="380771"/>
            <a:chOff x="6781800" y="901700"/>
            <a:chExt cx="411734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781800" y="901700"/>
              <a:ext cx="411734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卻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在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片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會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發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亮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子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6786880" y="1227226"/>
              <a:ext cx="568959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方琪琪與連在腳下的影子同樣大步向前；樂樂在更右邊彎身向草葉上的小紅瓢蟲揮手，影子也揮手。只有兩個真人，影子是地面平影。左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grpSp>
        <p:nvGrpSpPr>
          <p:cNvPr id="3" name="專名號：琪琪想超過自己的影子。"/>
          <p:cNvGrpSpPr/>
          <p:nvPr/>
        </p:nvGrpSpPr>
        <p:grpSpPr>
          <a:xfrm>
            <a:off x="660400" y="1905000"/>
            <a:ext cx="3393440" cy="490804"/>
            <a:chOff x="660400" y="1905000"/>
            <a:chExt cx="339344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1905000"/>
              <a:ext cx="339344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想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超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過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己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影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子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23405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60400" y="2421204"/>
            <a:ext cx="426212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她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加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快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腳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步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影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快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起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grpSp>
        <p:nvGrpSpPr>
          <p:cNvPr id="7" name="專名號：樂樂的影子，"/>
          <p:cNvGrpSpPr/>
          <p:nvPr/>
        </p:nvGrpSpPr>
        <p:grpSpPr>
          <a:xfrm>
            <a:off x="660400" y="2931744"/>
            <a:ext cx="1800860" cy="380771"/>
            <a:chOff x="660400" y="2931744"/>
            <a:chExt cx="180086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60400" y="2931744"/>
              <a:ext cx="180086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影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子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，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665480" y="3257270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60400" y="3363544"/>
            <a:ext cx="295910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隻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打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招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呼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93500" y="6515100"/>
            <a:ext cx="14351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琪琪在左下方以平穩步伐踏過窄水窪邊的乾石頭；樂樂在右邊乾地蹲下指着水面。水中天空只露一小部分。上方留白，臉遠離中縫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000" y="357233"/>
            <a:ext cx="10921999" cy="6140358"/>
          </a:xfrm>
          <a:prstGeom prst="rect">
            <a:avLst/>
          </a:prstGeom>
        </p:spPr>
      </p:pic>
      <p:grpSp>
        <p:nvGrpSpPr>
          <p:cNvPr id="3" name="專名號：琪琪越過小水窪。"/>
          <p:cNvGrpSpPr/>
          <p:nvPr/>
        </p:nvGrpSpPr>
        <p:grpSpPr>
          <a:xfrm>
            <a:off x="660400" y="469900"/>
            <a:ext cx="2524760" cy="490804"/>
            <a:chOff x="660400" y="469900"/>
            <a:chExt cx="252476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252476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越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過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水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9054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237998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別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停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grpSp>
        <p:nvGrpSpPr>
          <p:cNvPr id="7" name="專名號：樂樂蹲下：「水裏有……」"/>
          <p:cNvGrpSpPr/>
          <p:nvPr/>
        </p:nvGrpSpPr>
        <p:grpSpPr>
          <a:xfrm>
            <a:off x="6781800" y="901700"/>
            <a:ext cx="3538220" cy="380771"/>
            <a:chOff x="6781800" y="901700"/>
            <a:chExt cx="353822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781800" y="901700"/>
              <a:ext cx="353822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蹲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：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水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…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…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」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6786880" y="1227226"/>
              <a:ext cx="568959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方兩個無框雲朵小鏡頭：左邊柔軟白兔形雲，右邊同一朵雲拉長變成圓頭胖魚形，淡藍筆線暗示移動；琪琪與樂樂在下緣小小抬頭看。雲不是有眼睛的動物。上方三成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grpSp>
        <p:nvGrpSpPr>
          <p:cNvPr id="3" name="專名號：「等會兒再看！」琪琪說。"/>
          <p:cNvGrpSpPr/>
          <p:nvPr/>
        </p:nvGrpSpPr>
        <p:grpSpPr>
          <a:xfrm>
            <a:off x="660400" y="469900"/>
            <a:ext cx="3538220" cy="380771"/>
            <a:chOff x="660400" y="469900"/>
            <a:chExt cx="3538220" cy="380771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353822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會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兒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再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！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」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2981960" y="79542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411734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白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兔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伸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長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耳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又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縮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回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901700"/>
            <a:ext cx="324866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咦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怎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成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條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魚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下小草坡，琪琪仰頭站着，右手風車稍垂；樂樂在她身後不遠。右上很小的胖魚形雲。人物不失散、不哭鬧。左方全白，留出安靜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grpSp>
        <p:nvGrpSpPr>
          <p:cNvPr id="3" name="專名號：琪琪走到小坡，抬起頭。"/>
          <p:cNvGrpSpPr/>
          <p:nvPr/>
        </p:nvGrpSpPr>
        <p:grpSpPr>
          <a:xfrm>
            <a:off x="660400" y="1905000"/>
            <a:ext cx="3538220" cy="490804"/>
            <a:chOff x="660400" y="1905000"/>
            <a:chExt cx="353822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1905000"/>
              <a:ext cx="353822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坡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抬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起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頭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23405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60400" y="2421204"/>
            <a:ext cx="266954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遠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遠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天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853004"/>
            <a:ext cx="440690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怎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越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越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趕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呢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近景，琪琪坐在乾燥草地，只有一支小風車平放身旁；樂樂蹲在同一視線高度，遞來一片完整的淡褐落葉。兩人溫和對望，沒有擁抱或指責。左方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0783" y="0"/>
            <a:ext cx="11430432" cy="6426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1905000"/>
            <a:ext cx="324866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她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放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坐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grpSp>
        <p:nvGrpSpPr>
          <p:cNvPr id="4" name="專名號：樂樂遞來一片落葉："/>
          <p:cNvGrpSpPr/>
          <p:nvPr/>
        </p:nvGrpSpPr>
        <p:grpSpPr>
          <a:xfrm>
            <a:off x="660400" y="2336800"/>
            <a:ext cx="2669540" cy="380771"/>
            <a:chOff x="660400" y="2336800"/>
            <a:chExt cx="2669540" cy="380771"/>
          </a:xfrm>
        </p:grpSpPr>
        <p:sp>
          <p:nvSpPr>
            <p:cNvPr id="5" name="TextBox 4"/>
            <p:cNvSpPr txBox="1"/>
            <p:nvPr/>
          </p:nvSpPr>
          <p:spPr>
            <a:xfrm>
              <a:off x="660400" y="2336800"/>
              <a:ext cx="266954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遞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來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片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落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：</a:t>
              </a:r>
            </a:p>
          </p:txBody>
        </p:sp>
        <p:cxnSp>
          <p:nvCxnSpPr>
            <p:cNvPr id="6" name="專名號：樂樂"/>
            <p:cNvCxnSpPr/>
            <p:nvPr/>
          </p:nvCxnSpPr>
          <p:spPr>
            <a:xfrm>
              <a:off x="665480" y="266232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660400" y="2768600"/>
            <a:ext cx="397256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先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陪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回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水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窪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好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嗎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人回到剛才的窄水窪，樂樂拿着那片淡褐落葉指向水面；琪琪右手重新拿起風車，腳步放慢，穩穩踏在乾石頭旁。畫面下半，水面只露一條藍色邊。上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4834" y="482600"/>
            <a:ext cx="10662331" cy="6000750"/>
          </a:xfrm>
          <a:prstGeom prst="rect">
            <a:avLst/>
          </a:prstGeom>
        </p:spPr>
      </p:pic>
      <p:grpSp>
        <p:nvGrpSpPr>
          <p:cNvPr id="3" name="專名號：琪琪趁風小了一點，慢慢走。"/>
          <p:cNvGrpSpPr/>
          <p:nvPr/>
        </p:nvGrpSpPr>
        <p:grpSpPr>
          <a:xfrm>
            <a:off x="660400" y="469900"/>
            <a:ext cx="4117340" cy="490804"/>
            <a:chOff x="660400" y="469900"/>
            <a:chExt cx="4117340" cy="490804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411734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趁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風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了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點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慢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慢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90545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252476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過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剛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才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石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頭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grpSp>
        <p:nvGrpSpPr>
          <p:cNvPr id="7" name="專名號：她看見樂樂一直指着的地方。"/>
          <p:cNvGrpSpPr/>
          <p:nvPr/>
        </p:nvGrpSpPr>
        <p:grpSpPr>
          <a:xfrm>
            <a:off x="6781800" y="980440"/>
            <a:ext cx="3827780" cy="380771"/>
            <a:chOff x="6781800" y="980440"/>
            <a:chExt cx="382778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781800" y="980440"/>
              <a:ext cx="382778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她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直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指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方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7655559" y="130596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半頁佔大幅的淺藍水窪，清楚倒映天空中同一朵胖魚形白雲。上方右側畫一小部分真正的天空雲，連接倒影概念。兩孩子在水窪左右乾邊蹲下看，琪琪只有一支小風車。上方文字區全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1367" y="317500"/>
            <a:ext cx="10789264" cy="6072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69900"/>
            <a:ext cx="237998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條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白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白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魚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901700"/>
            <a:ext cx="382778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安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安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靜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靜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游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水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窪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裏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33500"/>
            <a:ext cx="397256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裏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水面特寫，一片淡褐落葉如小船漂在胖魚形雲的倒影旁；樂樂伸出的手在放葉後離開水面，琪琪的半張笑臉從右側上方探入，風車只有木柄一部分露在外側。沒有真正的魚，雲沒有眼睛。左方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grpSp>
        <p:nvGrpSpPr>
          <p:cNvPr id="3" name="專名號：樂樂把落葉放進水裏。"/>
          <p:cNvGrpSpPr/>
          <p:nvPr/>
        </p:nvGrpSpPr>
        <p:grpSpPr>
          <a:xfrm>
            <a:off x="660400" y="1905000"/>
            <a:ext cx="2959100" cy="380771"/>
            <a:chOff x="660400" y="1905000"/>
            <a:chExt cx="2959100" cy="380771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1905000"/>
              <a:ext cx="295910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把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落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放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進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水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樂樂"/>
            <p:cNvCxnSpPr/>
            <p:nvPr/>
          </p:nvCxnSpPr>
          <p:spPr>
            <a:xfrm>
              <a:off x="665480" y="223052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60400" y="2336800"/>
            <a:ext cx="237998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吹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—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768600"/>
            <a:ext cx="151130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魚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200400"/>
            <a:ext cx="209042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多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艘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船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人蹲在水窪乾邊開心對望，琪琪左手比向回程小路，右手仍拿風車，樂樂雙手放膝上。落葉小船留在水面角落。上方白，兩張臉分在左右安全區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6857" y="0"/>
            <a:ext cx="11418285" cy="6426199"/>
          </a:xfrm>
          <a:prstGeom prst="rect">
            <a:avLst/>
          </a:prstGeom>
        </p:spPr>
      </p:pic>
      <p:grpSp>
        <p:nvGrpSpPr>
          <p:cNvPr id="3" name="專名號：琪琪也蹲下來。"/>
          <p:cNvGrpSpPr/>
          <p:nvPr/>
        </p:nvGrpSpPr>
        <p:grpSpPr>
          <a:xfrm>
            <a:off x="660400" y="469900"/>
            <a:ext cx="2090420" cy="380771"/>
            <a:chOff x="660400" y="469900"/>
            <a:chExt cx="2090420" cy="380771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209042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也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蹲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來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79542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266954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再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趟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吧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grpSp>
        <p:nvGrpSpPr>
          <p:cNvPr id="7" name="專名號：「去哪裏？」樂樂問。"/>
          <p:cNvGrpSpPr/>
          <p:nvPr/>
        </p:nvGrpSpPr>
        <p:grpSpPr>
          <a:xfrm>
            <a:off x="6781800" y="980440"/>
            <a:ext cx="2959100" cy="380771"/>
            <a:chOff x="6781800" y="980440"/>
            <a:chExt cx="2959100" cy="380771"/>
          </a:xfrm>
        </p:grpSpPr>
        <p:sp>
          <p:nvSpPr>
            <p:cNvPr id="8" name="TextBox 7"/>
            <p:cNvSpPr txBox="1"/>
            <p:nvPr/>
          </p:nvSpPr>
          <p:spPr>
            <a:xfrm>
              <a:off x="6781800" y="980440"/>
              <a:ext cx="295910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去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？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」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問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8524240" y="130596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人沿來時小路並肩慢步，樂樂向草葉上的小紅瓢蟲望去，琪琪也看見了。右手風車以幾條短淡黃線輕輕旋轉。左下露一點水窪，遠處淡褐葉船。上方白，孩子臉避中縫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80550" y="1041400"/>
            <a:ext cx="9596098" cy="5400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69900"/>
            <a:ext cx="1511300" cy="3751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901700"/>
            <a:ext cx="368300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甚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1800" y="469900"/>
            <a:ext cx="281432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他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們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再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急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着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趕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980440"/>
            <a:ext cx="397256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車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身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輕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輕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轉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起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人在下半頁向右走，琪琪回頭等樂樂並伸出左手邀請，右手拿唯一風車；樂樂笑着向前。上方右側一朵普通柔軟新雲，留給讀者想像它像甚麼，不給明確動物答案。白紙與淡藍曲風線連接結尾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6395" y="1346200"/>
            <a:ext cx="9012208" cy="5072062"/>
          </a:xfrm>
          <a:prstGeom prst="rect">
            <a:avLst/>
          </a:prstGeom>
        </p:spPr>
      </p:pic>
      <p:grpSp>
        <p:nvGrpSpPr>
          <p:cNvPr id="3" name="專名號：琪琪看見一朵新的雲："/>
          <p:cNvGrpSpPr/>
          <p:nvPr/>
        </p:nvGrpSpPr>
        <p:grpSpPr>
          <a:xfrm>
            <a:off x="660400" y="469900"/>
            <a:ext cx="2959100" cy="380771"/>
            <a:chOff x="660400" y="469900"/>
            <a:chExt cx="2959100" cy="380771"/>
          </a:xfrm>
        </p:grpSpPr>
        <p:sp>
          <p:nvSpPr>
            <p:cNvPr id="4" name="TextBox 3"/>
            <p:cNvSpPr txBox="1"/>
            <p:nvPr/>
          </p:nvSpPr>
          <p:spPr>
            <a:xfrm>
              <a:off x="660400" y="469900"/>
              <a:ext cx="2959100" cy="380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琪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見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朵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的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雲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：</a:t>
              </a:r>
            </a:p>
          </p:txBody>
        </p:sp>
        <p:cxnSp>
          <p:nvCxnSpPr>
            <p:cNvPr id="5" name="專名號：琪琪"/>
            <p:cNvCxnSpPr/>
            <p:nvPr/>
          </p:nvCxnSpPr>
          <p:spPr>
            <a:xfrm>
              <a:off x="665480" y="795426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81800" y="469900"/>
            <a:ext cx="3103880" cy="4851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342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去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找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那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grpSp>
        <p:nvGrpSpPr>
          <p:cNvPr id="7" name="專名號：這一次，她等樂樂一起走。"/>
          <p:cNvGrpSpPr/>
          <p:nvPr/>
        </p:nvGrpSpPr>
        <p:grpSpPr>
          <a:xfrm>
            <a:off x="6781800" y="980440"/>
            <a:ext cx="3827780" cy="490804"/>
            <a:chOff x="6781800" y="980440"/>
            <a:chExt cx="3827780" cy="490804"/>
          </a:xfrm>
        </p:grpSpPr>
        <p:sp>
          <p:nvSpPr>
            <p:cNvPr id="8" name="TextBox 7"/>
            <p:cNvSpPr txBox="1"/>
            <p:nvPr/>
          </p:nvSpPr>
          <p:spPr>
            <a:xfrm>
              <a:off x="6781800" y="980440"/>
              <a:ext cx="3827780" cy="4908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這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次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，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她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等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樂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一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起</a:t>
              </a:r>
              <a:r>
                <a:rPr sz="3420" b="1">
                  <a:solidFill>
                    <a:srgbClr val="303536"/>
                  </a:solidFill>
                  <a:latin typeface="JyunsaiKaai"/>
                  <a:ea typeface="JyunsaiKaai"/>
                </a:rPr>
                <a:t>走</a:t>
              </a:r>
              <a:r>
                <a:rPr sz="2280" b="0">
                  <a:solidFill>
                    <a:srgbClr val="303536"/>
                  </a:solidFill>
                  <a:latin typeface="Iansui"/>
                  <a:ea typeface="Iansui"/>
                </a:rPr>
                <a:t>。</a:t>
              </a:r>
            </a:p>
          </p:txBody>
        </p:sp>
        <p:cxnSp>
          <p:nvCxnSpPr>
            <p:cNvPr id="9" name="專名號：樂樂"/>
            <p:cNvCxnSpPr/>
            <p:nvPr/>
          </p:nvCxnSpPr>
          <p:spPr>
            <a:xfrm>
              <a:off x="8524240" y="1415999"/>
              <a:ext cx="568960" cy="0"/>
            </a:xfrm>
            <a:prstGeom prst="line">
              <a:avLst/>
            </a:prstGeom>
            <a:ln w="8890">
              <a:solidFill>
                <a:srgbClr val="30353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469900"/>
            <a:ext cx="2641600" cy="4632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字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裏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條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92200"/>
            <a:ext cx="2870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六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走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部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陪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我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們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走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一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趟</a:t>
            </a:r>
            <a:r>
              <a:rPr sz="1700" b="0">
                <a:solidFill>
                  <a:srgbClr val="626B68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7780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9800" y="18288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050" y="30226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起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0600" y="17780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6200" y="18288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450" y="30226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趕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7000" y="17780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600" y="18288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7850" y="30226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超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" y="38608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9116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5050" y="51054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越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0600" y="38608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6200" y="39116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450" y="51054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7000" y="3860800"/>
            <a:ext cx="1473200" cy="1778000"/>
          </a:xfrm>
          <a:prstGeom prst="roundRect">
            <a:avLst/>
          </a:prstGeom>
          <a:solidFill>
            <a:srgbClr val="F4F8FA"/>
          </a:solidFill>
          <a:ln w="7620">
            <a:solidFill>
              <a:srgbClr val="D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2600" y="3911600"/>
            <a:ext cx="8255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303536"/>
                </a:solidFill>
                <a:latin typeface="JyunsaiKaai"/>
                <a:ea typeface="JyunsaiKaai"/>
              </a:rPr>
              <a:t>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7850" y="5105400"/>
            <a:ext cx="6350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400" y="469900"/>
            <a:ext cx="2921000" cy="406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先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看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首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再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意</a:t>
            </a:r>
            <a:r>
              <a:rPr sz="2500" b="0">
                <a:solidFill>
                  <a:srgbClr val="303536"/>
                </a:solidFill>
                <a:latin typeface="Iansui"/>
                <a:ea typeface="Iansui"/>
              </a:rPr>
              <a:t>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300" y="1257300"/>
            <a:ext cx="996950" cy="9842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5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5500" y="1638300"/>
            <a:ext cx="1130300" cy="50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400" b="0">
                <a:solidFill>
                  <a:srgbClr val="303536"/>
                </a:solidFill>
                <a:latin typeface="Iansui"/>
                <a:ea typeface="Iansui"/>
              </a:rPr>
              <a:t>字</a:t>
            </a:r>
            <a:r>
              <a:rPr sz="2400" b="0">
                <a:solidFill>
                  <a:srgbClr val="303536"/>
                </a:solidFill>
                <a:latin typeface="Iansui"/>
                <a:ea typeface="Iansui"/>
              </a:rPr>
              <a:t>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6400" y="2844800"/>
            <a:ext cx="26924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家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首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400" y="3263900"/>
            <a:ext cx="2578100" cy="3068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放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左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邊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時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長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長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捺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6400" y="3619500"/>
            <a:ext cx="3035300" cy="3068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像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路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樣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托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住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旁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邊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件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400" y="4445000"/>
            <a:ext cx="3136900" cy="469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303536"/>
                </a:solidFill>
                <a:latin typeface="JyunsaiKaai"/>
                <a:ea typeface="JyunsaiKaai"/>
              </a:rPr>
              <a:t>趁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風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點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慢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慢</a:t>
            </a:r>
            <a:r>
              <a:rPr sz="330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22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6400" y="5080000"/>
            <a:ext cx="3378200" cy="393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700" b="1">
                <a:solidFill>
                  <a:srgbClr val="303536"/>
                </a:solidFill>
                <a:latin typeface="JyunsaiKaai"/>
                <a:ea typeface="JyunsaiKaai"/>
              </a:rPr>
              <a:t>趁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可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以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把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握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合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適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時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候</a:t>
            </a:r>
            <a:r>
              <a:rPr sz="18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6400" y="5905500"/>
            <a:ext cx="3086100" cy="3746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跑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、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追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、</a:t>
            </a:r>
            <a:r>
              <a:rPr sz="2550" b="1">
                <a:solidFill>
                  <a:srgbClr val="303536"/>
                </a:solidFill>
                <a:latin typeface="JyunsaiKaai"/>
                <a:ea typeface="JyunsaiKaai"/>
              </a:rPr>
              <a:t>趕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哪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2550" b="1">
                <a:solidFill>
                  <a:srgbClr val="303536"/>
                </a:solidFill>
                <a:latin typeface="JyunsaiKaai"/>
                <a:ea typeface="JyunsaiKaai"/>
              </a:rPr>
              <a:t>走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字</a:t>
            </a:r>
            <a:r>
              <a:rPr sz="1700" b="0">
                <a:solidFill>
                  <a:srgbClr val="303536"/>
                </a:solidFill>
                <a:latin typeface="Iansui"/>
                <a:ea typeface="Iansui"/>
              </a:rPr>
              <a:t>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935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58800"/>
            <a:ext cx="1720850" cy="6032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4350" b="1">
                <a:solidFill>
                  <a:srgbClr val="303536"/>
                </a:solidFill>
                <a:latin typeface="JyunsaiKaai"/>
                <a:ea typeface="JyunsaiKaai"/>
              </a:rPr>
              <a:t>趟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93800"/>
            <a:ext cx="2641600" cy="4632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發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現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甚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2900" b="0">
                <a:solidFill>
                  <a:srgbClr val="303536"/>
                </a:solidFill>
                <a:latin typeface="Iansui"/>
                <a:ea typeface="Iansui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1155700"/>
            <a:ext cx="1968500" cy="47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雲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天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上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0" y="1752600"/>
            <a:ext cx="1968500" cy="47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腳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邊</a:t>
            </a:r>
            <a:r>
              <a:rPr sz="30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0" y="2743200"/>
            <a:ext cx="1670050" cy="488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3450" b="1">
                <a:solidFill>
                  <a:srgbClr val="303536"/>
                </a:solidFill>
                <a:latin typeface="JyunsaiKaai"/>
                <a:ea typeface="JyunsaiKaai"/>
              </a:rPr>
              <a:t>趣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0" y="3276600"/>
            <a:ext cx="3276600" cy="3779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時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要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慢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點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才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看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得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見</a:t>
            </a:r>
            <a:r>
              <a:rPr sz="2300" b="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0" y="6273800"/>
            <a:ext cx="1290320" cy="221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繁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體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中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文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7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–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9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200" b="0">
                <a:solidFill>
                  <a:srgbClr val="626B68"/>
                </a:solidFill>
                <a:latin typeface="Iansui"/>
                <a:ea typeface="Iansui"/>
              </a:rPr>
              <a:t>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515100"/>
            <a:ext cx="223520" cy="200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 b="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pic>
        <p:nvPicPr>
          <p:cNvPr id="11" name="Picture 10" descr="兩位同行的孩子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78750" y="4178300"/>
            <a:ext cx="2933700" cy="1955800"/>
          </a:xfrm>
          <a:prstGeom prst="rect">
            <a:avLst/>
          </a:prstGeom>
        </p:spPr>
      </p:pic>
      <p:pic>
        <p:nvPicPr>
          <p:cNvPr id="12" name="Picture 11" descr="琪琪，約八歲女孩。黑色短鮑伯頭、不對稱瀏海，自己左側兩枚珊瑚髮夾；芥末黃長袖上衣、天藍小胸袋、深藍綠及膝短褲、珊瑚帆布鞋、鈷藍斜背小袋。右手帶一支珊瑚橙四葉紙風車、藍綠軸心和木柄。急着出發，也願意重新聽朋友說話。"/>
          <p:cNvPicPr>
            <a:picLocks noChangeAspect="1"/>
          </p:cNvPicPr>
          <p:nvPr/>
        </p:nvPicPr>
        <p:blipFill>
          <a:blip r:embed="rId4"/>
          <a:srcRect r="75000"/>
          <a:stretch>
            <a:fillRect/>
          </a:stretch>
        </p:blipFill>
        <p:spPr>
          <a:xfrm>
            <a:off x="1373187" y="2120900"/>
            <a:ext cx="809625" cy="2159000"/>
          </a:xfrm>
          <a:prstGeom prst="rect">
            <a:avLst/>
          </a:prstGeom>
        </p:spPr>
      </p:pic>
      <p:pic>
        <p:nvPicPr>
          <p:cNvPr id="13" name="Picture 12" descr="樂樂，約八歲男孩。黑色圓短髮、一撮翹髮；米白短袖、天藍短吊帶褲、苔綠雨靴。沒有袋子和風車。喜歡留意葉子、影子和小水窪，不是琪琪的弟弟，而是同行的朋友。"/>
          <p:cNvPicPr>
            <a:picLocks noChangeAspect="1"/>
          </p:cNvPicPr>
          <p:nvPr/>
        </p:nvPicPr>
        <p:blipFill>
          <a:blip r:embed="rId4"/>
          <a:srcRect l="50000" r="25000"/>
          <a:stretch>
            <a:fillRect/>
          </a:stretch>
        </p:blipFill>
        <p:spPr>
          <a:xfrm>
            <a:off x="3494087" y="2120900"/>
            <a:ext cx="809625" cy="2159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660900"/>
            <a:ext cx="1377950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《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走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！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去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找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那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朵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雲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02200"/>
            <a:ext cx="1816100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故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事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與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排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版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點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點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書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43500"/>
            <a:ext cx="2460910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插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畫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：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A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輔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助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依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角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色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設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定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製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84800"/>
            <a:ext cx="2497131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型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：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芫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荽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／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芫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茜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雅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楷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S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L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O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F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L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.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6100"/>
            <a:ext cx="2911475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正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文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6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4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漢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六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核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心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一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延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伸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67400"/>
            <a:ext cx="2546350" cy="214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卡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答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案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：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趕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；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跑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屬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足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部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追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屬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辵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部</a:t>
            </a:r>
            <a:r>
              <a:rPr sz="1150" b="0">
                <a:solidFill>
                  <a:srgbClr val="626B68"/>
                </a:solidFill>
                <a:latin typeface="Iansui"/>
                <a:ea typeface="Iansu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走！去找那朵雲</dc:title>
  <dc:subject>走部原創繪本・可編輯排版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