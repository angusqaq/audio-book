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原創封面。適讀年齡：7–9 歲；繁體中文犬部故事。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右頁為扉頁 1，左頁是閱讀版的前襯畫面，不納入單頁 PDF 的內頁頁碼。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2–3。開場：遊戲的邀請。</a:t>
            </a:r>
          </a:p>
          <a:p>
            <a:r>
              <a:t>小狗架起小舞台。</a:t>
            </a:r>
          </a:p>
          <a:p>
            <a:r>
              <a:t>「森林故事會，開始排戲！」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4–5。相遇：五位朋友各有動作。</a:t>
            </a:r>
          </a:p>
          <a:p>
            <a:r>
              <a:t>狐狸抱着一疊故事書，</a:t>
            </a:r>
          </a:p>
          <a:p>
            <a:r>
              <a:t>猴子搬來小木椅，獅子掛起布幕。</a:t>
            </a:r>
          </a:p>
          <a:p>
            <a:r>
              <a:t>小狼也跑來了。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6–7。衝突：照舊的角色分配。</a:t>
            </a:r>
          </a:p>
          <a:p>
            <a:r>
              <a:t>「狼演壞蛋，狐狸演小偷。</a:t>
            </a:r>
          </a:p>
          <a:p>
            <a:r>
              <a:t>就照書裏的來吧！」小狗說。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8–9。喜劇近鏡：演出和真正感受不同。</a:t>
            </a:r>
          </a:p>
          <a:p>
            <a:r>
              <a:t>小狼瞪大眼睛，張開嘴：</a:t>
            </a:r>
          </a:p>
          <a:p>
            <a:r>
              <a:t>「嗷——」</a:t>
            </a:r>
          </a:p>
          <a:p>
            <a:r>
              <a:t>喊得自己的耳朵也縮起來了。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10–11。安靜：讓圖像說出沒有出口的話。</a:t>
            </a:r>
          </a:p>
          <a:p>
            <a:r>
              <a:t>大家拍手。小狼卻捏着角色卡。</a:t>
            </a:r>
          </a:p>
          <a:p>
            <a:r>
              <a:t>他想說一句話，</a:t>
            </a:r>
          </a:p>
          <a:p>
            <a:r>
              <a:t>聲音卻比紙角還小。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12–13。轉折：小狗停下來聽。</a:t>
            </a:r>
          </a:p>
          <a:p>
            <a:r>
              <a:t>排戲的時候，他獨自坐在布幕後。</a:t>
            </a:r>
          </a:p>
          <a:p>
            <a:r>
              <a:t>小狗繞過來：「你在等誰？」</a:t>
            </a:r>
          </a:p>
          <a:p>
            <a:r>
              <a:t>「我在等一個……不是壞蛋的角色。」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14–15。重複與笑點：猜不到的新角色。</a:t>
            </a:r>
          </a:p>
          <a:p>
            <a:r>
              <a:t>「你猜，我想演甚麼？」小狼問。</a:t>
            </a:r>
          </a:p>
          <a:p>
            <a:r>
              <a:t>小狗猜了又猜：</a:t>
            </a:r>
          </a:p>
          <a:p>
            <a:r>
              <a:t>「會吃點心的壞蛋？不愛追人的壞蛋？」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16–17。核心：小狼說出自己的願望。</a:t>
            </a:r>
          </a:p>
          <a:p>
            <a:r>
              <a:t>小狼搖搖頭。</a:t>
            </a:r>
          </a:p>
          <a:p>
            <a:r>
              <a:t>「我想演一個提着燈，</a:t>
            </a:r>
          </a:p>
          <a:p>
            <a:r>
              <a:t>送朋友回家的……好鄰居。」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18–19。回應：另一個願望被看見。</a:t>
            </a:r>
          </a:p>
          <a:p>
            <a:r>
              <a:t>狐狸聽見了：</a:t>
            </a:r>
          </a:p>
          <a:p>
            <a:r>
              <a:t>「我也不想當小偷。</a:t>
            </a:r>
          </a:p>
          <a:p>
            <a:r>
              <a:t>我想當把信送對地方的郵差。」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20–21。擴展：每個角色都有不一樣的一面。</a:t>
            </a:r>
          </a:p>
          <a:p>
            <a:r>
              <a:t>猴子舉起手：「我想當安靜的畫家。」</a:t>
            </a:r>
          </a:p>
          <a:p>
            <a:r>
              <a:t>獅子小聲說：「我想演一個怕黑的朋友。」</a:t>
            </a:r>
          </a:p>
          <a:p>
            <a:r>
              <a:t>「那我陪你。」小狼說。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22–23。視覺翻轉：空白就是新的可能。</a:t>
            </a:r>
          </a:p>
          <a:p>
            <a:r>
              <a:t>小狗把舊角色卡翻過來，</a:t>
            </a:r>
          </a:p>
          <a:p>
            <a:r>
              <a:t>露出一整面空白。</a:t>
            </a:r>
          </a:p>
          <a:p>
            <a:r>
              <a:t>「這一回，換大家說故事。」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24–25。高潮：自己的新故事開始了。</a:t>
            </a:r>
          </a:p>
          <a:p>
            <a:r>
              <a:t>幕拉開了。狐狸送來第一封信，</a:t>
            </a:r>
          </a:p>
          <a:p>
            <a:r>
              <a:t>猴子把夜路畫滿星星。</a:t>
            </a:r>
          </a:p>
          <a:p>
            <a:r>
              <a:t>獅子走得很慢，</a:t>
            </a:r>
          </a:p>
          <a:p>
            <a:r>
              <a:t>小狼就把燈提得低低的。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26–27。情緒落點：不用兇，也能被聽見。</a:t>
            </a:r>
          </a:p>
          <a:p>
            <a:r>
              <a:t>「別怕，我陪你走。」</a:t>
            </a:r>
          </a:p>
          <a:p>
            <a:r>
              <a:t>這一次，小狼的聲音不大，</a:t>
            </a:r>
          </a:p>
          <a:p>
            <a:r>
              <a:t>每個人卻都聽見了。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內頁 28–29。結尾：把提問交給讀者。</a:t>
            </a:r>
          </a:p>
          <a:p>
            <a:r>
              <a:t>散場後，小狗問：</a:t>
            </a:r>
          </a:p>
          <a:p>
            <a:r>
              <a:t>「下一次，誰來說故事？」</a:t>
            </a:r>
          </a:p>
          <a:p>
            <a:r>
              <a:t>五隻爪子，一起舉了起來。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核心六字：狗、狐、狸、狼、猴、獅。延伸：猜、獨。詞語採用「狐狸」。繁體貓屬豸部，豬屬豕部，未誤列。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左頁：製作頁 32；右頁：封底。閱讀後可請孩子設計自己的新角色卡。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48000" y="0"/>
            <a:ext cx="6096000" cy="6858000"/>
          </a:xfrm>
          <a:prstGeom prst="rect">
            <a:avLst/>
          </a:prstGeom>
          <a:solidFill>
            <a:srgbClr val="E8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小狼拿着紙星，用自己的聲音說故事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60834" y="3035300"/>
            <a:ext cx="3670330" cy="375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17900" y="355600"/>
            <a:ext cx="1358900" cy="3206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D7568"/>
                </a:solidFill>
                <a:latin typeface="Iansui"/>
                <a:ea typeface="Iansui"/>
              </a:rPr>
              <a:t>部</a:t>
            </a:r>
            <a:r>
              <a:rPr sz="1700">
                <a:solidFill>
                  <a:srgbClr val="4D7568"/>
                </a:solidFill>
                <a:latin typeface="Iansui"/>
                <a:ea typeface="Iansui"/>
              </a:rPr>
              <a:t>首</a:t>
            </a:r>
            <a:r>
              <a:rPr sz="1700">
                <a:solidFill>
                  <a:srgbClr val="4D7568"/>
                </a:solidFill>
                <a:latin typeface="Iansui"/>
                <a:ea typeface="Iansui"/>
              </a:rPr>
              <a:t>故</a:t>
            </a:r>
            <a:r>
              <a:rPr sz="1700">
                <a:solidFill>
                  <a:srgbClr val="4D7568"/>
                </a:solidFill>
                <a:latin typeface="Iansui"/>
                <a:ea typeface="Iansui"/>
              </a:rPr>
              <a:t>事</a:t>
            </a:r>
            <a:r>
              <a:rPr sz="1700">
                <a:solidFill>
                  <a:srgbClr val="4D7568"/>
                </a:solidFill>
                <a:latin typeface="Iansui"/>
                <a:ea typeface="Iansui"/>
              </a:rPr>
              <a:t>・</a:t>
            </a:r>
            <a:r>
              <a:rPr sz="1700">
                <a:solidFill>
                  <a:srgbClr val="4D7568"/>
                </a:solidFill>
                <a:latin typeface="Iansui"/>
                <a:ea typeface="Iansui"/>
              </a:rPr>
              <a:t>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5200" y="914400"/>
            <a:ext cx="2425700" cy="10350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6200">
                <a:solidFill>
                  <a:srgbClr val="303536"/>
                </a:solidFill>
                <a:latin typeface="Iansui"/>
                <a:ea typeface="Iansui"/>
              </a:rPr>
              <a:t>狼</a:t>
            </a:r>
            <a:r>
              <a:rPr sz="620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1816100"/>
            <a:ext cx="3213100" cy="10350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>
                <a:solidFill>
                  <a:srgbClr val="303536"/>
                </a:solidFill>
                <a:latin typeface="Iansui"/>
                <a:ea typeface="Iansui"/>
              </a:rPr>
              <a:t>換</a:t>
            </a:r>
            <a:r>
              <a:rPr sz="6200">
                <a:solidFill>
                  <a:srgbClr val="303536"/>
                </a:solidFill>
                <a:latin typeface="Iansui"/>
                <a:ea typeface="Iansui"/>
              </a:rPr>
              <a:t>你</a:t>
            </a:r>
            <a:r>
              <a:rPr sz="6200">
                <a:solidFill>
                  <a:srgbClr val="303536"/>
                </a:solidFill>
                <a:latin typeface="Iansui"/>
                <a:ea typeface="Iansui"/>
              </a:rPr>
              <a:t>說</a:t>
            </a:r>
            <a:r>
              <a:rPr sz="6200">
                <a:solidFill>
                  <a:srgbClr val="303536"/>
                </a:solidFill>
                <a:latin typeface="Iansui"/>
                <a:ea typeface="Iansui"/>
              </a:rPr>
              <a:t>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灰色小狼；三角耳、米白嘴邊；薄荷綠背心、珊瑚色小口袋；害羞但有自己的想法。"/>
          <p:cNvPicPr>
            <a:picLocks noChangeAspect="1"/>
          </p:cNvPicPr>
          <p:nvPr/>
        </p:nvPicPr>
        <p:blipFill>
          <a:blip r:embed="rId3"/>
          <a:srcRect r="66300" b="51000"/>
          <a:stretch>
            <a:fillRect/>
          </a:stretch>
        </p:blipFill>
        <p:spPr>
          <a:xfrm>
            <a:off x="1233811" y="2781300"/>
            <a:ext cx="3602977" cy="3492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1079500"/>
            <a:ext cx="1079500" cy="368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303536"/>
                </a:solidFill>
                <a:latin typeface="Iansui"/>
                <a:ea typeface="Iansui"/>
              </a:rPr>
              <a:t>給</a:t>
            </a:r>
            <a:r>
              <a:rPr sz="2000">
                <a:solidFill>
                  <a:srgbClr val="303536"/>
                </a:solidFill>
                <a:latin typeface="Iansui"/>
                <a:ea typeface="Iansui"/>
              </a:rPr>
              <a:t>每</a:t>
            </a:r>
            <a:r>
              <a:rPr sz="200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000">
                <a:solidFill>
                  <a:srgbClr val="303536"/>
                </a:solidFill>
                <a:latin typeface="Iansui"/>
                <a:ea typeface="Iansui"/>
              </a:rPr>
              <a:t>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485900"/>
            <a:ext cx="2349500" cy="368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303536"/>
                </a:solidFill>
                <a:latin typeface="Iansui"/>
                <a:ea typeface="Iansui"/>
              </a:rPr>
              <a:t>還</a:t>
            </a:r>
            <a:r>
              <a:rPr sz="2000">
                <a:solidFill>
                  <a:srgbClr val="303536"/>
                </a:solidFill>
                <a:latin typeface="Iansui"/>
                <a:ea typeface="Iansui"/>
              </a:rPr>
              <a:t>沒</a:t>
            </a:r>
            <a:r>
              <a:rPr sz="2000">
                <a:solidFill>
                  <a:srgbClr val="303536"/>
                </a:solidFill>
                <a:latin typeface="Iansui"/>
                <a:ea typeface="Iansui"/>
              </a:rPr>
              <a:t>說</a:t>
            </a:r>
            <a:r>
              <a:rPr sz="2000">
                <a:solidFill>
                  <a:srgbClr val="303536"/>
                </a:solidFill>
                <a:latin typeface="Iansui"/>
                <a:ea typeface="Iansui"/>
              </a:rPr>
              <a:t>出</a:t>
            </a:r>
            <a:r>
              <a:rPr sz="2000">
                <a:solidFill>
                  <a:srgbClr val="303536"/>
                </a:solidFill>
                <a:latin typeface="Iansui"/>
                <a:ea typeface="Iansui"/>
              </a:rPr>
              <a:t>願</a:t>
            </a:r>
            <a:r>
              <a:rPr sz="2000">
                <a:solidFill>
                  <a:srgbClr val="303536"/>
                </a:solidFill>
                <a:latin typeface="Iansui"/>
                <a:ea typeface="Iansui"/>
              </a:rPr>
              <a:t>望</a:t>
            </a:r>
            <a:r>
              <a:rPr sz="200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000">
                <a:solidFill>
                  <a:srgbClr val="303536"/>
                </a:solidFill>
                <a:latin typeface="Iansui"/>
                <a:ea typeface="Iansui"/>
              </a:rPr>
              <a:t>人</a:t>
            </a:r>
            <a:r>
              <a:rPr sz="200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94500" y="2120900"/>
            <a:ext cx="2082800" cy="8921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30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5300">
                <a:solidFill>
                  <a:srgbClr val="303536"/>
                </a:solidFill>
                <a:latin typeface="Iansui"/>
                <a:ea typeface="Iansui"/>
              </a:rPr>
              <a:t>狼</a:t>
            </a:r>
            <a:r>
              <a:rPr sz="530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4500" y="2946400"/>
            <a:ext cx="2755900" cy="8921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300">
                <a:solidFill>
                  <a:srgbClr val="303536"/>
                </a:solidFill>
                <a:latin typeface="Iansui"/>
                <a:ea typeface="Iansui"/>
              </a:rPr>
              <a:t>換</a:t>
            </a:r>
            <a:r>
              <a:rPr sz="5300">
                <a:solidFill>
                  <a:srgbClr val="303536"/>
                </a:solidFill>
                <a:latin typeface="Iansui"/>
                <a:ea typeface="Iansui"/>
              </a:rPr>
              <a:t>你</a:t>
            </a:r>
            <a:r>
              <a:rPr sz="5300">
                <a:solidFill>
                  <a:srgbClr val="303536"/>
                </a:solidFill>
                <a:latin typeface="Iansui"/>
                <a:ea typeface="Iansui"/>
              </a:rPr>
              <a:t>說</a:t>
            </a:r>
            <a:r>
              <a:rPr sz="5300">
                <a:solidFill>
                  <a:srgbClr val="303536"/>
                </a:solidFill>
                <a:latin typeface="Iansui"/>
                <a:ea typeface="Iansui"/>
              </a:rPr>
              <a:t>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5300" y="4114800"/>
            <a:ext cx="1511300" cy="3524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4D7568"/>
                </a:solidFill>
                <a:latin typeface="Iansui"/>
                <a:ea typeface="Iansui"/>
              </a:rPr>
              <a:t>部</a:t>
            </a:r>
            <a:r>
              <a:rPr sz="1900">
                <a:solidFill>
                  <a:srgbClr val="4D7568"/>
                </a:solidFill>
                <a:latin typeface="Iansui"/>
                <a:ea typeface="Iansui"/>
              </a:rPr>
              <a:t>首</a:t>
            </a:r>
            <a:r>
              <a:rPr sz="1900">
                <a:solidFill>
                  <a:srgbClr val="4D7568"/>
                </a:solidFill>
                <a:latin typeface="Iansui"/>
                <a:ea typeface="Iansui"/>
              </a:rPr>
              <a:t>故</a:t>
            </a:r>
            <a:r>
              <a:rPr sz="1900">
                <a:solidFill>
                  <a:srgbClr val="4D7568"/>
                </a:solidFill>
                <a:latin typeface="Iansui"/>
                <a:ea typeface="Iansui"/>
              </a:rPr>
              <a:t>事</a:t>
            </a:r>
            <a:r>
              <a:rPr sz="1900">
                <a:solidFill>
                  <a:srgbClr val="4D7568"/>
                </a:solidFill>
                <a:latin typeface="Iansui"/>
                <a:ea typeface="Iansui"/>
              </a:rPr>
              <a:t>・</a:t>
            </a:r>
            <a:r>
              <a:rPr sz="1900">
                <a:solidFill>
                  <a:srgbClr val="4D7568"/>
                </a:solidFill>
                <a:latin typeface="Iansui"/>
                <a:ea typeface="Iansui"/>
              </a:rPr>
              <a:t>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5300" y="5740400"/>
            <a:ext cx="1722755" cy="2571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626B68"/>
                </a:solidFill>
                <a:latin typeface="Iansui"/>
                <a:ea typeface="Iansui"/>
              </a:rPr>
              <a:t>原</a:t>
            </a:r>
            <a:r>
              <a:rPr sz="1300">
                <a:solidFill>
                  <a:srgbClr val="626B68"/>
                </a:solidFill>
                <a:latin typeface="Iansui"/>
                <a:ea typeface="Iansui"/>
              </a:rPr>
              <a:t>創</a:t>
            </a:r>
            <a:r>
              <a:rPr sz="1300">
                <a:solidFill>
                  <a:srgbClr val="626B68"/>
                </a:solidFill>
                <a:latin typeface="Iansui"/>
                <a:ea typeface="Iansui"/>
              </a:rPr>
              <a:t>犬</a:t>
            </a:r>
            <a:r>
              <a:rPr sz="1300">
                <a:solidFill>
                  <a:srgbClr val="626B68"/>
                </a:solidFill>
                <a:latin typeface="Iansui"/>
                <a:ea typeface="Iansui"/>
              </a:rPr>
              <a:t>部</a:t>
            </a:r>
            <a:r>
              <a:rPr sz="1300">
                <a:solidFill>
                  <a:srgbClr val="626B68"/>
                </a:solidFill>
                <a:latin typeface="Iansui"/>
                <a:ea typeface="Iansui"/>
              </a:rPr>
              <a:t>故</a:t>
            </a:r>
            <a:r>
              <a:rPr sz="1300">
                <a:solidFill>
                  <a:srgbClr val="626B68"/>
                </a:solidFill>
                <a:latin typeface="Iansui"/>
                <a:ea typeface="Iansui"/>
              </a:rPr>
              <a:t>事</a:t>
            </a:r>
            <a:r>
              <a:rPr sz="1300">
                <a:solidFill>
                  <a:srgbClr val="626B68"/>
                </a:solidFill>
                <a:latin typeface="Iansui"/>
                <a:ea typeface="Iansui"/>
              </a:rPr>
              <a:t>・</a:t>
            </a:r>
            <a:r>
              <a:rPr sz="1300">
                <a:solidFill>
                  <a:srgbClr val="626B68"/>
                </a:solidFill>
                <a:latin typeface="Iansui"/>
                <a:ea typeface="Iansui"/>
              </a:rPr>
              <a:t>7</a:t>
            </a:r>
            <a:r>
              <a:rPr sz="1300">
                <a:solidFill>
                  <a:srgbClr val="626B68"/>
                </a:solidFill>
                <a:latin typeface="Iansui"/>
                <a:ea typeface="Iansui"/>
              </a:rPr>
              <a:t>–</a:t>
            </a:r>
            <a:r>
              <a:rPr sz="1300">
                <a:solidFill>
                  <a:srgbClr val="626B68"/>
                </a:solidFill>
                <a:latin typeface="Iansui"/>
                <a:ea typeface="Iansui"/>
              </a:rPr>
              <a:t>9</a:t>
            </a:r>
            <a:r>
              <a:rPr sz="1300">
                <a:solidFill>
                  <a:srgbClr val="626B68"/>
                </a:solidFill>
                <a:latin typeface="Iansui"/>
                <a:ea typeface="Iansui"/>
              </a:rPr>
              <a:t> </a:t>
            </a:r>
            <a:r>
              <a:rPr sz="1300">
                <a:solidFill>
                  <a:srgbClr val="626B68"/>
                </a:solidFill>
                <a:latin typeface="Iansui"/>
                <a:ea typeface="Iansui"/>
              </a:rPr>
              <a:t>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小狗在右側架設小木台與淡紫布幕，小狼在左下方探頭，手裏捏着小紙星。白色地面，兩三條草線。上方左側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400" y="495300"/>
            <a:ext cx="241472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狗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架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起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舞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台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914400"/>
            <a:ext cx="382778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森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林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故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會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排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戲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！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6515100"/>
            <a:ext cx="14351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93500" y="6515100"/>
            <a:ext cx="14351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下方橫向行進隊伍：狐狸抱無字書、猴子舉一把小椅子、獅子在右側掛布幕，小狼追到隊伍邊。動作線淡黃；上方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276160" y="0"/>
            <a:ext cx="1218552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400" y="495300"/>
            <a:ext cx="3028594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狐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狸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抱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着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疊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故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書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6400" y="495300"/>
            <a:ext cx="4476394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猴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子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搬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木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椅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獅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子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掛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起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布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幕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6400" y="914400"/>
            <a:ext cx="212516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狼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也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跑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6515100"/>
            <a:ext cx="14351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93500" y="6515100"/>
            <a:ext cx="14351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右半頁小狗拿着一本無字故事書，遞兩張角色卡給小狼與狐狸。卡上只有簡單面具圖案，沒有字。小狼的耳朵微垂。左半頁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61665" y="609600"/>
            <a:ext cx="10027668" cy="56435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3100" y="1955800"/>
            <a:ext cx="3642461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狼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演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壞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狐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狸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演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偷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100" y="2387600"/>
            <a:ext cx="386252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就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照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書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裏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吧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！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」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狗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說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6515100"/>
            <a:ext cx="14351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93500" y="6515100"/>
            <a:ext cx="14351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小狼的臉佔右半頁大特寫，努力張口卻被自己的聲音嚇得兩耳向後；圓圓小牙，不兇惡。幾道淡黃聲波與動作線向外飛。左半頁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3100" y="1955800"/>
            <a:ext cx="328340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狼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瞪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大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眼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睛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張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嘴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100" y="2387600"/>
            <a:ext cx="2159000" cy="5746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3300">
                <a:solidFill>
                  <a:srgbClr val="303536"/>
                </a:solidFill>
                <a:latin typeface="Iansui"/>
                <a:ea typeface="Iansui"/>
              </a:rPr>
              <a:t>嗷</a:t>
            </a:r>
            <a:r>
              <a:rPr sz="3300">
                <a:solidFill>
                  <a:srgbClr val="303536"/>
                </a:solidFill>
                <a:latin typeface="Iansui"/>
                <a:ea typeface="Iansui"/>
              </a:rPr>
              <a:t>—</a:t>
            </a:r>
            <a:r>
              <a:rPr sz="3300">
                <a:solidFill>
                  <a:srgbClr val="303536"/>
                </a:solidFill>
                <a:latin typeface="Iansui"/>
                <a:ea typeface="Iansui"/>
              </a:rPr>
              <a:t>—</a:t>
            </a:r>
            <a:r>
              <a:rPr sz="330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2911475"/>
            <a:ext cx="382778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喊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得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自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己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耳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朵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也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縮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起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6515100"/>
            <a:ext cx="14351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93500" y="6515100"/>
            <a:ext cx="14351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右側小狼低頭捏着一張角色卡，雙手很輕；其餘朋友只在遠處左下角小小鼓掌，重點是小狼的眼神。大量留白，沒有舞台佈景牆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400" y="495300"/>
            <a:ext cx="415208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大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家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拍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狼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卻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捏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着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角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色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卡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6400" y="495300"/>
            <a:ext cx="209042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他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想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說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句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話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6400" y="914400"/>
            <a:ext cx="266954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聲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音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卻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比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紙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角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還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935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淡紫布幕形成右側一條軟軟斜線；小狼在幕後右側坐在小木箱上，小狗從左方探頭，保持相同視線高度。氣氛安靜、友善。上方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400" y="495300"/>
            <a:ext cx="444164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排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戲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時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候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他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獨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自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坐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在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布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幕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6400" y="495300"/>
            <a:ext cx="386252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狗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繞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過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：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你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在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等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誰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？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6400" y="914400"/>
            <a:ext cx="498602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我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在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等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…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…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不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是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壞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角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色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935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兩個小小想像泡泡在右側：戴面具抱餅乾的小狼、戴面具坐着不追人的小狼。下方小狗思考，小狼用手輕輕搖一搖。泡泡只有插畫，沒有字。左半頁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72901" y="355600"/>
            <a:ext cx="10916196" cy="6143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3100" y="1955800"/>
            <a:ext cx="4476394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你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猜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我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想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演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甚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麼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？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」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狼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問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100" y="2387600"/>
            <a:ext cx="2194661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狗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猜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又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猜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2819400"/>
            <a:ext cx="411734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會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吃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點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心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壞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？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不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愛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追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人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" y="3251200"/>
            <a:ext cx="122174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壞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？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935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右半頁一個溫暖想像畫面：小狼提一盞小紙燈，照着通往小房子的幾顆星星。小狗坐在旁邊認真聽。淡黃光只在小範圍，背景仍是白。左半頁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72901" y="355600"/>
            <a:ext cx="10916196" cy="6143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3100" y="1955800"/>
            <a:ext cx="183560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狼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搖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搖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頭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100" y="2387600"/>
            <a:ext cx="295910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我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想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演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提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着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燈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2819400"/>
            <a:ext cx="382778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送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回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家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…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…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好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鄰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居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935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右半頁狐狸拿起一封無字小信，昂首想像自己當郵差；小狼在旁邊笑着點頭。狐狸的芥末短圍巾與白尾尖清楚。左半頁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72901" y="355600"/>
            <a:ext cx="10916196" cy="6143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3100" y="1955800"/>
            <a:ext cx="1870354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狐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狸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聽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100" y="2387600"/>
            <a:ext cx="266954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我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也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不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想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當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偷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2819400"/>
            <a:ext cx="411734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我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想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當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把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信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送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對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地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方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郵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差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935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下方左側猴子坐小椅子拿筆畫星星；右側大獅子低頭輕聲說話，小狼抬頭溫柔回應。保留上方寬闊留白，人物面部遠離中縫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39" y="381000"/>
            <a:ext cx="1218552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400" y="495300"/>
            <a:ext cx="502076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猴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子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舉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起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：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我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想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當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安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靜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畫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家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6400" y="495300"/>
            <a:ext cx="444164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獅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子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聲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說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：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我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想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演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怕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黑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6400" y="914400"/>
            <a:ext cx="122174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6400" y="1333500"/>
            <a:ext cx="328340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那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我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陪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你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」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狼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說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935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近鏡小狗的爪子把幾張卡翻到空白面，右下方小狼、狐狸、猴子與獅子圍着畫圖。幾支淡彩色鉛筆，細小紙星。空白卡必須乾淨，沒有文字。上方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822"/>
            <a:ext cx="12192000" cy="68543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400" y="495300"/>
            <a:ext cx="328340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狗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把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舊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角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色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卡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翻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過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6400" y="495300"/>
            <a:ext cx="237998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露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出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整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面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空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白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6400" y="914400"/>
            <a:ext cx="382778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這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回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換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大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家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說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故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935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下方微型小舞台：小狼提紙燈陪獅子沿紙星走；狐狸在側面遞信，猴子在後方星星布景上添一點金黃。小狗在台邊握小紙卷。淡紫帷幕只在兩邊，中央與上方保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822"/>
            <a:ext cx="12192000" cy="68543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400" y="495300"/>
            <a:ext cx="4186834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幕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拉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狐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狸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送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第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封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信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6400" y="495300"/>
            <a:ext cx="299384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猴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子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把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夜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路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畫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滿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星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星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6400" y="914400"/>
            <a:ext cx="212516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獅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子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走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得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很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慢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6400" y="1333500"/>
            <a:ext cx="328340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狼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就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把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燈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提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得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低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低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6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935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右半頁安靜近景：小狼提低低的黃光紙燈，和獅子並肩走；兩位朋友互看，腳邊兩顆手繪星星。微笑很輕。左半頁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72901" y="355600"/>
            <a:ext cx="10916196" cy="6143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3100" y="1955800"/>
            <a:ext cx="295910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別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怕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我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陪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你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走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3100" y="2387600"/>
            <a:ext cx="357296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這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次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狼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聲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音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不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大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100" y="2819400"/>
            <a:ext cx="266954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每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人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卻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都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聽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935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下方五位朋友排成自然微弧：小狗、狐狸、小狼、猴子、獅子，每位只舉一隻爪子，合計五隻。小狼開心卻不誇張，五顆小紙星像掌聲。上方留白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36" y="317500"/>
            <a:ext cx="11423926" cy="64293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0400" y="495300"/>
            <a:ext cx="2414727" cy="456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散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場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2553">
                <a:solidFill>
                  <a:srgbClr val="303536"/>
                </a:solidFill>
                <a:latin typeface="Iansui"/>
                <a:ea typeface="Iansui"/>
              </a:rPr>
              <a:t>狗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問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6400" y="495300"/>
            <a:ext cx="353822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次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誰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說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故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事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？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6400" y="914400"/>
            <a:ext cx="3538220" cy="412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五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隻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爪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子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起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舉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起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來</a:t>
            </a:r>
            <a:r>
              <a:rPr sz="228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935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2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2300" y="495300"/>
            <a:ext cx="1905000" cy="5111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>
                <a:solidFill>
                  <a:srgbClr val="303536"/>
                </a:solidFill>
                <a:latin typeface="Iansui"/>
                <a:ea typeface="Iansui"/>
              </a:rPr>
              <a:t>字</a:t>
            </a:r>
            <a:r>
              <a:rPr sz="2900">
                <a:solidFill>
                  <a:srgbClr val="303536"/>
                </a:solidFill>
                <a:latin typeface="Iansui"/>
                <a:ea typeface="Iansui"/>
              </a:rPr>
              <a:t>裏</a:t>
            </a:r>
            <a:r>
              <a:rPr sz="290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900">
                <a:solidFill>
                  <a:srgbClr val="303536"/>
                </a:solidFill>
                <a:latin typeface="Iansui"/>
                <a:ea typeface="Iansui"/>
              </a:rPr>
              <a:t>朋</a:t>
            </a:r>
            <a:r>
              <a:rPr sz="2900">
                <a:solidFill>
                  <a:srgbClr val="303536"/>
                </a:solidFill>
                <a:latin typeface="Iansui"/>
                <a:ea typeface="Iansui"/>
              </a:rPr>
              <a:t>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2300" y="1104900"/>
            <a:ext cx="2870200" cy="3206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26B68"/>
                </a:solidFill>
                <a:latin typeface="Iansui"/>
                <a:ea typeface="Iansui"/>
              </a:rPr>
              <a:t>六</a:t>
            </a:r>
            <a:r>
              <a:rPr sz="1700">
                <a:solidFill>
                  <a:srgbClr val="626B68"/>
                </a:solidFill>
                <a:latin typeface="Iansui"/>
                <a:ea typeface="Iansui"/>
              </a:rPr>
              <a:t>個</a:t>
            </a:r>
            <a:r>
              <a:rPr sz="1700">
                <a:solidFill>
                  <a:srgbClr val="626B68"/>
                </a:solidFill>
                <a:latin typeface="Iansui"/>
                <a:ea typeface="Iansui"/>
              </a:rPr>
              <a:t>犬</a:t>
            </a:r>
            <a:r>
              <a:rPr sz="1700">
                <a:solidFill>
                  <a:srgbClr val="626B68"/>
                </a:solidFill>
                <a:latin typeface="Iansui"/>
                <a:ea typeface="Iansui"/>
              </a:rPr>
              <a:t>部</a:t>
            </a:r>
            <a:r>
              <a:rPr sz="1700">
                <a:solidFill>
                  <a:srgbClr val="626B68"/>
                </a:solidFill>
                <a:latin typeface="Iansui"/>
                <a:ea typeface="Iansui"/>
              </a:rPr>
              <a:t>字</a:t>
            </a:r>
            <a:r>
              <a:rPr sz="1700">
                <a:solidFill>
                  <a:srgbClr val="626B68"/>
                </a:solidFill>
                <a:latin typeface="Iansui"/>
                <a:ea typeface="Iansui"/>
              </a:rPr>
              <a:t>，</a:t>
            </a:r>
            <a:r>
              <a:rPr sz="1700">
                <a:solidFill>
                  <a:srgbClr val="626B68"/>
                </a:solidFill>
                <a:latin typeface="Iansui"/>
                <a:ea typeface="Iansui"/>
              </a:rPr>
              <a:t>五</a:t>
            </a:r>
            <a:r>
              <a:rPr sz="1700">
                <a:solidFill>
                  <a:srgbClr val="626B68"/>
                </a:solidFill>
                <a:latin typeface="Iansui"/>
                <a:ea typeface="Iansui"/>
              </a:rPr>
              <a:t>位</a:t>
            </a:r>
            <a:r>
              <a:rPr sz="1700">
                <a:solidFill>
                  <a:srgbClr val="626B68"/>
                </a:solidFill>
                <a:latin typeface="Iansui"/>
                <a:ea typeface="Iansui"/>
              </a:rPr>
              <a:t>故</a:t>
            </a:r>
            <a:r>
              <a:rPr sz="1700">
                <a:solidFill>
                  <a:srgbClr val="626B68"/>
                </a:solidFill>
                <a:latin typeface="Iansui"/>
                <a:ea typeface="Iansui"/>
              </a:rPr>
              <a:t>事</a:t>
            </a:r>
            <a:r>
              <a:rPr sz="1700">
                <a:solidFill>
                  <a:srgbClr val="626B68"/>
                </a:solidFill>
                <a:latin typeface="Iansui"/>
                <a:ea typeface="Iansui"/>
              </a:rPr>
              <a:t>朋</a:t>
            </a:r>
            <a:r>
              <a:rPr sz="1700">
                <a:solidFill>
                  <a:srgbClr val="626B68"/>
                </a:solidFill>
                <a:latin typeface="Iansui"/>
                <a:ea typeface="Iansui"/>
              </a:rPr>
              <a:t>友</a:t>
            </a:r>
            <a:r>
              <a:rPr sz="1700">
                <a:solidFill>
                  <a:srgbClr val="626B68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701800"/>
            <a:ext cx="1422400" cy="19177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3300" y="1778000"/>
            <a:ext cx="673100" cy="812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>
                <a:solidFill>
                  <a:srgbClr val="303536"/>
                </a:solidFill>
                <a:latin typeface="Iansui"/>
                <a:ea typeface="Iansui"/>
              </a:rPr>
              <a:t>狗</a:t>
            </a:r>
          </a:p>
        </p:txBody>
      </p:sp>
      <p:pic>
        <p:nvPicPr>
          <p:cNvPr id="6" name="Picture 5" descr="奶油色垂耳小狗；天藍吊帶褲；熱心的小導演，會學着傾聽。"/>
          <p:cNvPicPr>
            <a:picLocks noChangeAspect="1"/>
          </p:cNvPicPr>
          <p:nvPr/>
        </p:nvPicPr>
        <p:blipFill>
          <a:blip r:embed="rId3"/>
          <a:srcRect l="35000" t="1000" r="35000" b="70000"/>
          <a:stretch>
            <a:fillRect/>
          </a:stretch>
        </p:blipFill>
        <p:spPr>
          <a:xfrm>
            <a:off x="914400" y="2652747"/>
            <a:ext cx="812800" cy="5238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3327400"/>
            <a:ext cx="444500" cy="288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1500">
                <a:solidFill>
                  <a:srgbClr val="303536"/>
                </a:solidFill>
                <a:latin typeface="Iansui"/>
                <a:ea typeface="Iansui"/>
              </a:rPr>
              <a:t>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0600" y="1701800"/>
            <a:ext cx="1422400" cy="19177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4300" y="1778000"/>
            <a:ext cx="673100" cy="812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>
                <a:solidFill>
                  <a:srgbClr val="303536"/>
                </a:solidFill>
                <a:latin typeface="Iansui"/>
                <a:ea typeface="Iansui"/>
              </a:rPr>
              <a:t>狼</a:t>
            </a:r>
          </a:p>
        </p:txBody>
      </p:sp>
      <p:pic>
        <p:nvPicPr>
          <p:cNvPr id="10" name="Picture 9" descr="灰色小狼；三角耳、米白嘴邊；薄荷綠背心、珊瑚色小口袋；害羞但有自己的想法。"/>
          <p:cNvPicPr>
            <a:picLocks noChangeAspect="1"/>
          </p:cNvPicPr>
          <p:nvPr/>
        </p:nvPicPr>
        <p:blipFill>
          <a:blip r:embed="rId3"/>
          <a:srcRect l="4000" r="69000" b="70000"/>
          <a:stretch>
            <a:fillRect/>
          </a:stretch>
        </p:blipFill>
        <p:spPr>
          <a:xfrm>
            <a:off x="2565400" y="2613612"/>
            <a:ext cx="812800" cy="6020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0" y="3327400"/>
            <a:ext cx="444500" cy="288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303536"/>
                </a:solidFill>
                <a:latin typeface="Iansui"/>
                <a:ea typeface="Iansui"/>
              </a:rPr>
              <a:t>小</a:t>
            </a:r>
            <a:r>
              <a:rPr sz="1500">
                <a:solidFill>
                  <a:srgbClr val="303536"/>
                </a:solidFill>
                <a:latin typeface="Iansui"/>
                <a:ea typeface="Iansui"/>
              </a:rPr>
              <a:t>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11600" y="1701800"/>
            <a:ext cx="1422400" cy="19177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5300" y="1778000"/>
            <a:ext cx="673100" cy="812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>
                <a:solidFill>
                  <a:srgbClr val="303536"/>
                </a:solidFill>
                <a:latin typeface="Iansui"/>
                <a:ea typeface="Iansui"/>
              </a:rPr>
              <a:t>猴</a:t>
            </a:r>
          </a:p>
        </p:txBody>
      </p:sp>
      <p:pic>
        <p:nvPicPr>
          <p:cNvPr id="14" name="Picture 13" descr="暖棕色小猴；圓耳、彎長尾、鮭粉色短褲；想當安靜的畫家。"/>
          <p:cNvPicPr>
            <a:picLocks noChangeAspect="1"/>
          </p:cNvPicPr>
          <p:nvPr/>
        </p:nvPicPr>
        <p:blipFill>
          <a:blip r:embed="rId3"/>
          <a:srcRect l="4000" t="53000" r="70000" b="19000"/>
          <a:stretch>
            <a:fillRect/>
          </a:stretch>
        </p:blipFill>
        <p:spPr>
          <a:xfrm>
            <a:off x="4216400" y="2622875"/>
            <a:ext cx="812800" cy="5835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94200" y="3327400"/>
            <a:ext cx="444500" cy="288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303536"/>
                </a:solidFill>
                <a:latin typeface="Iansui"/>
                <a:ea typeface="Iansui"/>
              </a:rPr>
              <a:t>猴</a:t>
            </a:r>
            <a:r>
              <a:rPr sz="1500">
                <a:solidFill>
                  <a:srgbClr val="303536"/>
                </a:solidFill>
                <a:latin typeface="Iansui"/>
                <a:ea typeface="Iansui"/>
              </a:rPr>
              <a:t>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3873500"/>
            <a:ext cx="1422400" cy="19177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3300" y="3949700"/>
            <a:ext cx="673100" cy="812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>
                <a:solidFill>
                  <a:srgbClr val="303536"/>
                </a:solidFill>
                <a:latin typeface="Iansui"/>
                <a:ea typeface="Iansui"/>
              </a:rPr>
              <a:t>狐</a:t>
            </a:r>
          </a:p>
        </p:txBody>
      </p:sp>
      <p:pic>
        <p:nvPicPr>
          <p:cNvPr id="18" name="Picture 17" descr="橙色狐狸；白下巴、白尾尖、芥末黃短圍巾；細心、喜歡故事書。"/>
          <p:cNvPicPr>
            <a:picLocks noChangeAspect="1"/>
          </p:cNvPicPr>
          <p:nvPr/>
        </p:nvPicPr>
        <p:blipFill>
          <a:blip r:embed="rId3"/>
          <a:srcRect l="67000" r="2000" b="69000"/>
          <a:stretch>
            <a:fillRect/>
          </a:stretch>
        </p:blipFill>
        <p:spPr>
          <a:xfrm>
            <a:off x="914400" y="4815416"/>
            <a:ext cx="812800" cy="5418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2200" y="5499100"/>
            <a:ext cx="444500" cy="288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303536"/>
                </a:solidFill>
                <a:latin typeface="Iansui"/>
                <a:ea typeface="Iansui"/>
              </a:rPr>
              <a:t>狐</a:t>
            </a:r>
            <a:r>
              <a:rPr sz="1500">
                <a:solidFill>
                  <a:srgbClr val="303536"/>
                </a:solidFill>
                <a:latin typeface="Iansui"/>
                <a:ea typeface="Iansui"/>
              </a:rPr>
              <a:t>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60600" y="3873500"/>
            <a:ext cx="1422400" cy="19177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4300" y="3949700"/>
            <a:ext cx="673100" cy="812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>
                <a:solidFill>
                  <a:srgbClr val="303536"/>
                </a:solidFill>
                <a:latin typeface="Iansui"/>
                <a:ea typeface="Iansui"/>
              </a:rPr>
              <a:t>狸</a:t>
            </a:r>
          </a:p>
        </p:txBody>
      </p:sp>
      <p:pic>
        <p:nvPicPr>
          <p:cNvPr id="22" name="Picture 21" descr="橙色狐狸；白下巴、白尾尖、芥末黃短圍巾；細心、喜歡故事書。"/>
          <p:cNvPicPr>
            <a:picLocks noChangeAspect="1"/>
          </p:cNvPicPr>
          <p:nvPr/>
        </p:nvPicPr>
        <p:blipFill>
          <a:blip r:embed="rId3"/>
          <a:srcRect l="67000" r="2000" b="69000"/>
          <a:stretch>
            <a:fillRect/>
          </a:stretch>
        </p:blipFill>
        <p:spPr>
          <a:xfrm>
            <a:off x="2565400" y="4815416"/>
            <a:ext cx="812800" cy="5418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43200" y="5499100"/>
            <a:ext cx="444500" cy="288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303536"/>
                </a:solidFill>
                <a:latin typeface="Iansui"/>
                <a:ea typeface="Iansui"/>
              </a:rPr>
              <a:t>狐</a:t>
            </a:r>
            <a:r>
              <a:rPr sz="1500">
                <a:solidFill>
                  <a:srgbClr val="303536"/>
                </a:solidFill>
                <a:latin typeface="Iansui"/>
                <a:ea typeface="Iansui"/>
              </a:rPr>
              <a:t>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11600" y="3873500"/>
            <a:ext cx="1422400" cy="19177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6E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5300" y="3949700"/>
            <a:ext cx="673100" cy="812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>
                <a:solidFill>
                  <a:srgbClr val="303536"/>
                </a:solidFill>
                <a:latin typeface="Iansui"/>
                <a:ea typeface="Iansui"/>
              </a:rPr>
              <a:t>獅</a:t>
            </a:r>
          </a:p>
        </p:txBody>
      </p:sp>
      <p:pic>
        <p:nvPicPr>
          <p:cNvPr id="26" name="Picture 25" descr="淡赭色獅子；鬆軟圓鬃毛、淡紫領巾；個子大，說話很輕。"/>
          <p:cNvPicPr>
            <a:picLocks noChangeAspect="1"/>
          </p:cNvPicPr>
          <p:nvPr/>
        </p:nvPicPr>
        <p:blipFill>
          <a:blip r:embed="rId3"/>
          <a:srcRect l="34000" t="48000" r="37000" b="18000"/>
          <a:stretch>
            <a:fillRect/>
          </a:stretch>
        </p:blipFill>
        <p:spPr>
          <a:xfrm>
            <a:off x="4216400" y="4768704"/>
            <a:ext cx="812800" cy="63529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94200" y="5499100"/>
            <a:ext cx="444500" cy="288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303536"/>
                </a:solidFill>
                <a:latin typeface="Iansui"/>
                <a:ea typeface="Iansui"/>
              </a:rPr>
              <a:t>獅</a:t>
            </a:r>
            <a:r>
              <a:rPr sz="1500">
                <a:solidFill>
                  <a:srgbClr val="303536"/>
                </a:solidFill>
                <a:latin typeface="Iansui"/>
                <a:ea typeface="Iansui"/>
              </a:rPr>
              <a:t>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6400" y="495300"/>
            <a:ext cx="2641600" cy="5111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>
                <a:solidFill>
                  <a:srgbClr val="303536"/>
                </a:solidFill>
                <a:latin typeface="Iansui"/>
                <a:ea typeface="Iansui"/>
              </a:rPr>
              <a:t>犬</a:t>
            </a:r>
            <a:r>
              <a:rPr sz="2900">
                <a:solidFill>
                  <a:srgbClr val="303536"/>
                </a:solidFill>
                <a:latin typeface="Iansui"/>
                <a:ea typeface="Iansui"/>
              </a:rPr>
              <a:t>和</a:t>
            </a:r>
            <a:r>
              <a:rPr sz="2900">
                <a:solidFill>
                  <a:srgbClr val="303536"/>
                </a:solidFill>
                <a:latin typeface="Iansui"/>
                <a:ea typeface="Iansui"/>
              </a:rPr>
              <a:t>犭</a:t>
            </a:r>
            <a:r>
              <a:rPr sz="290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900">
                <a:solidFill>
                  <a:srgbClr val="303536"/>
                </a:solidFill>
                <a:latin typeface="Iansui"/>
                <a:ea typeface="Iansui"/>
              </a:rPr>
              <a:t>是</a:t>
            </a:r>
            <a:r>
              <a:rPr sz="290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900">
                <a:solidFill>
                  <a:srgbClr val="303536"/>
                </a:solidFill>
                <a:latin typeface="Iansui"/>
                <a:ea typeface="Iansui"/>
              </a:rPr>
              <a:t>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3100" y="1320800"/>
            <a:ext cx="965200" cy="1177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0">
                <a:solidFill>
                  <a:srgbClr val="B35C50"/>
                </a:solidFill>
                <a:latin typeface="Iansui"/>
                <a:ea typeface="Iansui"/>
              </a:rPr>
              <a:t>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6600" y="1600200"/>
            <a:ext cx="495300" cy="590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>
                <a:solidFill>
                  <a:srgbClr val="626B68"/>
                </a:solidFill>
                <a:latin typeface="Iansui"/>
                <a:ea typeface="Iansu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1800" y="1320800"/>
            <a:ext cx="965200" cy="1177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0">
                <a:solidFill>
                  <a:srgbClr val="B35C50"/>
                </a:solidFill>
                <a:latin typeface="Iansui"/>
                <a:ea typeface="Iansui"/>
              </a:rPr>
              <a:t>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6400" y="2806700"/>
            <a:ext cx="2120900" cy="336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犬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」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有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狗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意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思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6400" y="3136900"/>
            <a:ext cx="3035300" cy="336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它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作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左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旁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時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常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寫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成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犭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」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6400" y="3467100"/>
            <a:ext cx="2349500" cy="336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這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個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形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狀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也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叫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反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犬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旁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56400" y="4470400"/>
            <a:ext cx="2552700" cy="495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猜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猜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　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　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獨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6400" y="5092700"/>
            <a:ext cx="3035300" cy="336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猜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」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和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「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獨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」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也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是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犬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部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字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6400" y="5422900"/>
            <a:ext cx="2120900" cy="336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卻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不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是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動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物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名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稱</a:t>
            </a:r>
            <a:r>
              <a:rPr sz="180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56400" y="6057900"/>
            <a:ext cx="31115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D7568"/>
                </a:solidFill>
                <a:latin typeface="Iansui"/>
                <a:ea typeface="Iansui"/>
              </a:rPr>
              <a:t>再</a:t>
            </a:r>
            <a:r>
              <a:rPr sz="1600">
                <a:solidFill>
                  <a:srgbClr val="4D7568"/>
                </a:solidFill>
                <a:latin typeface="Iansui"/>
                <a:ea typeface="Iansui"/>
              </a:rPr>
              <a:t>翻</a:t>
            </a:r>
            <a:r>
              <a:rPr sz="1600">
                <a:solidFill>
                  <a:srgbClr val="4D7568"/>
                </a:solidFill>
                <a:latin typeface="Iansui"/>
                <a:ea typeface="Iansui"/>
              </a:rPr>
              <a:t>一</a:t>
            </a:r>
            <a:r>
              <a:rPr sz="1600">
                <a:solidFill>
                  <a:srgbClr val="4D7568"/>
                </a:solidFill>
                <a:latin typeface="Iansui"/>
                <a:ea typeface="Iansui"/>
              </a:rPr>
              <a:t>遍</a:t>
            </a:r>
            <a:r>
              <a:rPr sz="1600">
                <a:solidFill>
                  <a:srgbClr val="4D7568"/>
                </a:solidFill>
                <a:latin typeface="Iansui"/>
                <a:ea typeface="Iansui"/>
              </a:rPr>
              <a:t>，</a:t>
            </a:r>
            <a:r>
              <a:rPr sz="1600">
                <a:solidFill>
                  <a:srgbClr val="4D7568"/>
                </a:solidFill>
                <a:latin typeface="Iansui"/>
                <a:ea typeface="Iansui"/>
              </a:rPr>
              <a:t>找</a:t>
            </a:r>
            <a:r>
              <a:rPr sz="1600">
                <a:solidFill>
                  <a:srgbClr val="4D7568"/>
                </a:solidFill>
                <a:latin typeface="Iansui"/>
                <a:ea typeface="Iansui"/>
              </a:rPr>
              <a:t>出</a:t>
            </a:r>
            <a:r>
              <a:rPr sz="1600">
                <a:solidFill>
                  <a:srgbClr val="4D7568"/>
                </a:solidFill>
                <a:latin typeface="Iansui"/>
                <a:ea typeface="Iansui"/>
              </a:rPr>
              <a:t>故</a:t>
            </a:r>
            <a:r>
              <a:rPr sz="1600">
                <a:solidFill>
                  <a:srgbClr val="4D7568"/>
                </a:solidFill>
                <a:latin typeface="Iansui"/>
                <a:ea typeface="Iansui"/>
              </a:rPr>
              <a:t>事</a:t>
            </a:r>
            <a:r>
              <a:rPr sz="1600">
                <a:solidFill>
                  <a:srgbClr val="4D7568"/>
                </a:solidFill>
                <a:latin typeface="Iansui"/>
                <a:ea typeface="Iansui"/>
              </a:rPr>
              <a:t>裏</a:t>
            </a:r>
            <a:r>
              <a:rPr sz="1600">
                <a:solidFill>
                  <a:srgbClr val="4D7568"/>
                </a:solidFill>
                <a:latin typeface="Iansui"/>
                <a:ea typeface="Iansui"/>
              </a:rPr>
              <a:t>的</a:t>
            </a:r>
            <a:r>
              <a:rPr sz="1600">
                <a:solidFill>
                  <a:srgbClr val="4D7568"/>
                </a:solidFill>
                <a:latin typeface="Iansui"/>
                <a:ea typeface="Iansui"/>
              </a:rPr>
              <a:t>犬</a:t>
            </a:r>
            <a:r>
              <a:rPr sz="1600">
                <a:solidFill>
                  <a:srgbClr val="4D7568"/>
                </a:solidFill>
                <a:latin typeface="Iansui"/>
                <a:ea typeface="Iansui"/>
              </a:rPr>
              <a:t>部</a:t>
            </a:r>
            <a:r>
              <a:rPr sz="1600">
                <a:solidFill>
                  <a:srgbClr val="4D7568"/>
                </a:solidFill>
                <a:latin typeface="Iansui"/>
                <a:ea typeface="Iansui"/>
              </a:rPr>
              <a:t>字</a:t>
            </a:r>
            <a:r>
              <a:rPr sz="1600">
                <a:solidFill>
                  <a:srgbClr val="4D7568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6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3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935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3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8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71500"/>
            <a:ext cx="1841500" cy="495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每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個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角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色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9500"/>
            <a:ext cx="2908300" cy="495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都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有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自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己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的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聲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音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8300" y="1333500"/>
            <a:ext cx="2197100" cy="495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你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想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當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甚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麼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18300" y="1917700"/>
            <a:ext cx="3263900" cy="495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這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一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次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，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先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聽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你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說</a:t>
            </a:r>
            <a:r>
              <a:rPr sz="2800">
                <a:solidFill>
                  <a:srgbClr val="303536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8300" y="2819400"/>
            <a:ext cx="2120900" cy="336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一</a:t>
            </a: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個</a:t>
            </a: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關</a:t>
            </a: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於</a:t>
            </a: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部</a:t>
            </a: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首</a:t>
            </a: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、</a:t>
            </a: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角</a:t>
            </a: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8300" y="3175000"/>
            <a:ext cx="1663700" cy="336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與</a:t>
            </a: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傾</a:t>
            </a: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聽</a:t>
            </a: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的</a:t>
            </a: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故</a:t>
            </a: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事</a:t>
            </a:r>
            <a:r>
              <a:rPr sz="1800">
                <a:solidFill>
                  <a:srgbClr val="4D7568"/>
                </a:solidFill>
                <a:latin typeface="Iansui"/>
                <a:ea typeface="Iansu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8300" y="6311900"/>
            <a:ext cx="129032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26B68"/>
                </a:solidFill>
                <a:latin typeface="Iansui"/>
                <a:ea typeface="Iansui"/>
              </a:rPr>
              <a:t>繁</a:t>
            </a:r>
            <a:r>
              <a:rPr sz="1200">
                <a:solidFill>
                  <a:srgbClr val="626B68"/>
                </a:solidFill>
                <a:latin typeface="Iansui"/>
                <a:ea typeface="Iansui"/>
              </a:rPr>
              <a:t>體</a:t>
            </a:r>
            <a:r>
              <a:rPr sz="1200">
                <a:solidFill>
                  <a:srgbClr val="626B68"/>
                </a:solidFill>
                <a:latin typeface="Iansui"/>
                <a:ea typeface="Iansui"/>
              </a:rPr>
              <a:t>中</a:t>
            </a:r>
            <a:r>
              <a:rPr sz="1200">
                <a:solidFill>
                  <a:srgbClr val="626B68"/>
                </a:solidFill>
                <a:latin typeface="Iansui"/>
                <a:ea typeface="Iansui"/>
              </a:rPr>
              <a:t>文</a:t>
            </a:r>
            <a:r>
              <a:rPr sz="1200">
                <a:solidFill>
                  <a:srgbClr val="626B68"/>
                </a:solidFill>
                <a:latin typeface="Iansui"/>
                <a:ea typeface="Iansui"/>
              </a:rPr>
              <a:t>・</a:t>
            </a:r>
            <a:r>
              <a:rPr sz="1200">
                <a:solidFill>
                  <a:srgbClr val="626B68"/>
                </a:solidFill>
                <a:latin typeface="Iansui"/>
                <a:ea typeface="Iansui"/>
              </a:rPr>
              <a:t>7</a:t>
            </a:r>
            <a:r>
              <a:rPr sz="1200">
                <a:solidFill>
                  <a:srgbClr val="626B68"/>
                </a:solidFill>
                <a:latin typeface="Iansui"/>
                <a:ea typeface="Iansui"/>
              </a:rPr>
              <a:t>–</a:t>
            </a:r>
            <a:r>
              <a:rPr sz="1200">
                <a:solidFill>
                  <a:srgbClr val="626B68"/>
                </a:solidFill>
                <a:latin typeface="Iansui"/>
                <a:ea typeface="Iansui"/>
              </a:rPr>
              <a:t>9</a:t>
            </a:r>
            <a:r>
              <a:rPr sz="1200">
                <a:solidFill>
                  <a:srgbClr val="626B68"/>
                </a:solidFill>
                <a:latin typeface="Iansui"/>
                <a:ea typeface="Iansui"/>
              </a:rPr>
              <a:t> </a:t>
            </a:r>
            <a:r>
              <a:rPr sz="1200">
                <a:solidFill>
                  <a:srgbClr val="626B68"/>
                </a:solidFill>
                <a:latin typeface="Iansui"/>
                <a:ea typeface="Iansui"/>
              </a:rPr>
              <a:t>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6515100"/>
            <a:ext cx="223520" cy="217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3</a:t>
            </a:r>
            <a:r>
              <a:rPr sz="1050">
                <a:solidFill>
                  <a:srgbClr val="626B68"/>
                </a:solidFill>
                <a:latin typeface="Iansui"/>
                <a:ea typeface="Iansui"/>
              </a:rPr>
              <a:t>2</a:t>
            </a:r>
          </a:p>
        </p:txBody>
      </p:sp>
      <p:pic>
        <p:nvPicPr>
          <p:cNvPr id="11" name="Picture 10" descr="原創繪本插畫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56920" y="2044700"/>
            <a:ext cx="2194758" cy="2247900"/>
          </a:xfrm>
          <a:prstGeom prst="rect">
            <a:avLst/>
          </a:prstGeom>
        </p:spPr>
      </p:pic>
      <p:pic>
        <p:nvPicPr>
          <p:cNvPr id="12" name="Picture 11" descr="原創繪本插畫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43121" y="3810000"/>
            <a:ext cx="2293956" cy="23494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4610100"/>
            <a:ext cx="1377950" cy="233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《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小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狼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，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換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你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說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！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64100"/>
            <a:ext cx="1816100" cy="233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原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創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故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事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與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排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版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・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點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點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書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18100"/>
            <a:ext cx="2460910" cy="233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插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畫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：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A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I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 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輔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助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，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依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原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創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角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色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設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定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製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72100"/>
            <a:ext cx="2241689" cy="233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字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型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：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芫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荽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 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I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a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n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s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u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i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・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S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I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L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 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O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F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L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 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1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.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626100"/>
            <a:ext cx="2911475" cy="2333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正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文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 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3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6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7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 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個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漢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字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・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六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個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核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心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字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・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兩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個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延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伸</a:t>
            </a:r>
            <a:r>
              <a:rPr sz="1150">
                <a:solidFill>
                  <a:srgbClr val="626B68"/>
                </a:solidFill>
                <a:latin typeface="Iansui"/>
                <a:ea typeface="Iansui"/>
              </a:rPr>
              <a:t>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小狼，換你說！</dc:title>
  <dc:subject>犬部原創繪本・可編輯排版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